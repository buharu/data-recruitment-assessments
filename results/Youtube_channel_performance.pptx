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6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</p:sldIdLst>
  <p:sldSz cx="12192000" cy="6858000"/>
  <p:notesSz cx="6858000" cy="9144000"/>
  <p:embeddedFontLst>
    <p:embeddedFont>
      <p:font typeface="Arial Black" panose="020B0A04020102020204" pitchFamily="34" charset="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892E4-C616-1FD2-F397-F89C8D49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6D38BE-BF77-7D76-4159-97D9DE49B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821046-6275-8C12-6B20-E996C25A6C0F}"/>
              </a:ext>
            </a:extLst>
          </p:cNvPr>
          <p:cNvSpPr/>
          <p:nvPr/>
        </p:nvSpPr>
        <p:spPr>
          <a:xfrm>
            <a:off x="762000" y="5619750"/>
            <a:ext cx="106680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D7BB41-1437-AC12-C0D6-F098F77C6D8D}"/>
              </a:ext>
            </a:extLst>
          </p:cNvPr>
          <p:cNvSpPr/>
          <p:nvPr/>
        </p:nvSpPr>
        <p:spPr>
          <a:xfrm>
            <a:off x="762000" y="5619750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34928A-F87F-2FF4-13F2-DB599088B510}"/>
              </a:ext>
            </a:extLst>
          </p:cNvPr>
          <p:cNvSpPr/>
          <p:nvPr/>
        </p:nvSpPr>
        <p:spPr>
          <a:xfrm>
            <a:off x="762000" y="6096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6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96D7B-4D44-708C-2932-FA5533DF7B1F}"/>
              </a:ext>
            </a:extLst>
          </p:cNvPr>
          <p:cNvSpPr txBox="1"/>
          <p:nvPr/>
        </p:nvSpPr>
        <p:spPr>
          <a:xfrm>
            <a:off x="9101137" y="714375"/>
            <a:ext cx="214802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i="0" u="none" noProof="0" dirty="0">
                <a:solidFill>
                  <a:srgbClr val="06B6D4"/>
                </a:solidFill>
                <a:latin typeface="Arial" panose="020B0604020202020204" pitchFamily="34" charset="0"/>
              </a:rPr>
              <a:t>DATA ANALYTICS ASSESSMENT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0F8400-9C8B-A5ED-1ACE-DEEB9E707C3C}"/>
              </a:ext>
            </a:extLst>
          </p:cNvPr>
          <p:cNvSpPr txBox="1"/>
          <p:nvPr/>
        </p:nvSpPr>
        <p:spPr>
          <a:xfrm>
            <a:off x="762000" y="2502247"/>
            <a:ext cx="9101137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900" b="1" i="0" u="none" noProof="0" dirty="0">
                <a:solidFill>
                  <a:srgbClr val="FFFFFF"/>
                </a:solidFill>
                <a:latin typeface="Arial Black" panose="020B0A04020102020204" pitchFamily="34" charset="0"/>
              </a:rPr>
              <a:t>Video Channel Analysis: Growth, Loyalty, and Strategic Decisions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AAC580-979F-A284-6D4B-D4FAA92130BA}"/>
              </a:ext>
            </a:extLst>
          </p:cNvPr>
          <p:cNvSpPr txBox="1"/>
          <p:nvPr/>
        </p:nvSpPr>
        <p:spPr>
          <a:xfrm>
            <a:off x="619125" y="684684"/>
            <a:ext cx="66675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500" b="1" i="0" u="none" noProof="0" dirty="0">
                <a:solidFill>
                  <a:srgbClr val="FFFFFF"/>
                </a:solidFill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D6F14-029B-2161-564F-5C1D7B36C7FE}"/>
              </a:ext>
            </a:extLst>
          </p:cNvPr>
          <p:cNvSpPr txBox="1"/>
          <p:nvPr/>
        </p:nvSpPr>
        <p:spPr>
          <a:xfrm>
            <a:off x="1257300" y="652462"/>
            <a:ext cx="220566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noProof="0" dirty="0">
                <a:solidFill>
                  <a:srgbClr val="FFFFFF"/>
                </a:solidFill>
                <a:latin typeface="Arial" panose="020B0604020202020204" pitchFamily="34" charset="0"/>
              </a:rPr>
              <a:t>OPTIMA PARTNERS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98E695-5E3D-CA70-B3B3-62FBBD77AD65}"/>
              </a:ext>
            </a:extLst>
          </p:cNvPr>
          <p:cNvSpPr txBox="1"/>
          <p:nvPr/>
        </p:nvSpPr>
        <p:spPr>
          <a:xfrm>
            <a:off x="762000" y="5857875"/>
            <a:ext cx="76142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noProof="0" dirty="0">
                <a:solidFill>
                  <a:srgbClr val="64748B"/>
                </a:solidFill>
                <a:latin typeface="Arial" panose="020B0604020202020204" pitchFamily="34" charset="0"/>
              </a:rPr>
              <a:t>Analysis Flow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8E759C-CCBF-26F6-4B97-249D759CC528}"/>
              </a:ext>
            </a:extLst>
          </p:cNvPr>
          <p:cNvSpPr txBox="1"/>
          <p:nvPr/>
        </p:nvSpPr>
        <p:spPr>
          <a:xfrm>
            <a:off x="762000" y="6048375"/>
            <a:ext cx="35234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1" i="0" u="none" noProof="0" dirty="0">
                <a:solidFill>
                  <a:srgbClr val="F8FAFC"/>
                </a:solidFill>
                <a:latin typeface="Arial" panose="020B0604020202020204" pitchFamily="34" charset="0"/>
              </a:rPr>
              <a:t>Q1 → Insight 1 • Q2 → Insight 2 • Q3 → Insight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29CA1F-FD32-4810-83CA-9FBEC87968BC}"/>
              </a:ext>
            </a:extLst>
          </p:cNvPr>
          <p:cNvSpPr txBox="1"/>
          <p:nvPr/>
        </p:nvSpPr>
        <p:spPr>
          <a:xfrm>
            <a:off x="4562475" y="5857875"/>
            <a:ext cx="89928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noProof="0" dirty="0">
                <a:solidFill>
                  <a:srgbClr val="64748B"/>
                </a:solidFill>
                <a:latin typeface="Arial" panose="020B0604020202020204" pitchFamily="34" charset="0"/>
              </a:rPr>
              <a:t>TIME ORIZONT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106D4C-E198-1C56-B343-0EFADDDEF192}"/>
              </a:ext>
            </a:extLst>
          </p:cNvPr>
          <p:cNvSpPr txBox="1"/>
          <p:nvPr/>
        </p:nvSpPr>
        <p:spPr>
          <a:xfrm>
            <a:off x="4562475" y="6048375"/>
            <a:ext cx="156292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1" i="0" u="none" noProof="0" dirty="0">
                <a:solidFill>
                  <a:srgbClr val="F8FAFC"/>
                </a:solidFill>
                <a:latin typeface="Arial" panose="020B0604020202020204" pitchFamily="34" charset="0"/>
              </a:rPr>
              <a:t>2023 – 2025 Season's</a:t>
            </a:r>
          </a:p>
        </p:txBody>
      </p:sp>
    </p:spTree>
    <p:extLst>
      <p:ext uri="{BB962C8B-B14F-4D97-AF65-F5344CB8AC3E}">
        <p14:creationId xmlns:p14="http://schemas.microsoft.com/office/powerpoint/2010/main" val="2638279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1722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1722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82325" y="6310312"/>
            <a:ext cx="24365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1 / 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6C4CCA-0729-2C83-001C-14B20137C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73" y="284449"/>
            <a:ext cx="9872853" cy="5759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82F17-5E28-4512-7904-FEDF373AA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A4DAFF-DDC2-8C5E-48FE-332E13AA3658}"/>
              </a:ext>
            </a:extLst>
          </p:cNvPr>
          <p:cNvSpPr/>
          <p:nvPr/>
        </p:nvSpPr>
        <p:spPr>
          <a:xfrm>
            <a:off x="609600" y="61722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AAFFB0-F4D9-7AFB-C0E7-14B12FD752B8}"/>
              </a:ext>
            </a:extLst>
          </p:cNvPr>
          <p:cNvSpPr/>
          <p:nvPr/>
        </p:nvSpPr>
        <p:spPr>
          <a:xfrm>
            <a:off x="609600" y="61722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EA34E1-679D-FCA2-C8B2-90FB1FDD5256}"/>
              </a:ext>
            </a:extLst>
          </p:cNvPr>
          <p:cNvSpPr txBox="1"/>
          <p:nvPr/>
        </p:nvSpPr>
        <p:spPr>
          <a:xfrm>
            <a:off x="10982325" y="6310312"/>
            <a:ext cx="24526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1" dirty="0">
                <a:solidFill>
                  <a:srgbClr val="0F172A"/>
                </a:solidFill>
                <a:latin typeface="Arial" panose="020B0604020202020204" pitchFamily="34" charset="0"/>
              </a:rPr>
              <a:t>2</a:t>
            </a:r>
            <a:r>
              <a:rPr sz="975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 /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FF7FE-EA8C-A269-FD80-9DCE226B8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64" y="660442"/>
            <a:ext cx="9687754" cy="521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2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4B4A5-8DCE-754D-F9C9-1DF756F56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46B551-8CDE-603F-E01E-BFF13F2D739B}"/>
              </a:ext>
            </a:extLst>
          </p:cNvPr>
          <p:cNvSpPr/>
          <p:nvPr/>
        </p:nvSpPr>
        <p:spPr>
          <a:xfrm>
            <a:off x="609600" y="61722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01D032-6EBA-8779-20EF-6C50852FA2E9}"/>
              </a:ext>
            </a:extLst>
          </p:cNvPr>
          <p:cNvSpPr/>
          <p:nvPr/>
        </p:nvSpPr>
        <p:spPr>
          <a:xfrm>
            <a:off x="609600" y="61722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1433D-002D-E7C4-1CE9-858681290AF6}"/>
              </a:ext>
            </a:extLst>
          </p:cNvPr>
          <p:cNvSpPr txBox="1"/>
          <p:nvPr/>
        </p:nvSpPr>
        <p:spPr>
          <a:xfrm>
            <a:off x="10982325" y="6310312"/>
            <a:ext cx="24526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1" dirty="0">
                <a:solidFill>
                  <a:srgbClr val="0F172A"/>
                </a:solidFill>
                <a:latin typeface="Arial" panose="020B0604020202020204" pitchFamily="34" charset="0"/>
              </a:rPr>
              <a:t>3</a:t>
            </a:r>
            <a:r>
              <a:rPr sz="975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 /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366EB8-5932-F0B7-3795-C6F10CBCA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90" y="266307"/>
            <a:ext cx="10195560" cy="561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493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02E88-D4E7-0A2C-D683-508309E5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36E159-8164-A993-FDBF-74F70E9331F1}"/>
              </a:ext>
            </a:extLst>
          </p:cNvPr>
          <p:cNvSpPr/>
          <p:nvPr/>
        </p:nvSpPr>
        <p:spPr>
          <a:xfrm>
            <a:off x="609600" y="61722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831C27-66C0-6014-EB64-CC942BC86964}"/>
              </a:ext>
            </a:extLst>
          </p:cNvPr>
          <p:cNvSpPr/>
          <p:nvPr/>
        </p:nvSpPr>
        <p:spPr>
          <a:xfrm>
            <a:off x="609600" y="61722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F0B8A-A5A8-E61D-856C-FF47B9639B30}"/>
              </a:ext>
            </a:extLst>
          </p:cNvPr>
          <p:cNvSpPr txBox="1"/>
          <p:nvPr/>
        </p:nvSpPr>
        <p:spPr>
          <a:xfrm>
            <a:off x="10982325" y="6310312"/>
            <a:ext cx="24526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1" dirty="0">
                <a:solidFill>
                  <a:srgbClr val="0F172A"/>
                </a:solidFill>
                <a:latin typeface="Arial" panose="020B0604020202020204" pitchFamily="34" charset="0"/>
              </a:rPr>
              <a:t>4</a:t>
            </a:r>
            <a:r>
              <a:rPr sz="975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 /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C4DC6-1145-692E-0EBB-1D581A705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582088"/>
            <a:ext cx="9373017" cy="49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6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A58181-1E03-7D87-E1E8-BB0569813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8610CF-1941-AF9E-9B5A-131CA98776C6}"/>
              </a:ext>
            </a:extLst>
          </p:cNvPr>
          <p:cNvSpPr/>
          <p:nvPr/>
        </p:nvSpPr>
        <p:spPr>
          <a:xfrm>
            <a:off x="609600" y="61722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65BC7B-B2D3-F697-681B-FA3978B1E5DC}"/>
              </a:ext>
            </a:extLst>
          </p:cNvPr>
          <p:cNvSpPr/>
          <p:nvPr/>
        </p:nvSpPr>
        <p:spPr>
          <a:xfrm>
            <a:off x="609600" y="61722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1632C9-A86E-F649-5FE3-061D97591F83}"/>
              </a:ext>
            </a:extLst>
          </p:cNvPr>
          <p:cNvSpPr txBox="1"/>
          <p:nvPr/>
        </p:nvSpPr>
        <p:spPr>
          <a:xfrm>
            <a:off x="10982325" y="6310312"/>
            <a:ext cx="24526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1" dirty="0">
                <a:solidFill>
                  <a:srgbClr val="0F172A"/>
                </a:solidFill>
                <a:latin typeface="Arial" panose="020B0604020202020204" pitchFamily="34" charset="0"/>
              </a:rPr>
              <a:t>5</a:t>
            </a:r>
            <a:r>
              <a:rPr sz="975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 /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651659-287F-38C0-CA42-33F413D0F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97647"/>
            <a:ext cx="10040112" cy="548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3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3449B-77D7-00E2-4393-FCD023C96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7D3794-2453-5514-9AF2-8AF0A22EFEC3}"/>
              </a:ext>
            </a:extLst>
          </p:cNvPr>
          <p:cNvSpPr/>
          <p:nvPr/>
        </p:nvSpPr>
        <p:spPr>
          <a:xfrm>
            <a:off x="609600" y="61722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BE3C9C-B2D5-1B22-4B4C-B35A54440CD7}"/>
              </a:ext>
            </a:extLst>
          </p:cNvPr>
          <p:cNvSpPr/>
          <p:nvPr/>
        </p:nvSpPr>
        <p:spPr>
          <a:xfrm>
            <a:off x="609600" y="61722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8A84FB-2DB2-F242-4332-AC51E1926F27}"/>
              </a:ext>
            </a:extLst>
          </p:cNvPr>
          <p:cNvSpPr txBox="1"/>
          <p:nvPr/>
        </p:nvSpPr>
        <p:spPr>
          <a:xfrm>
            <a:off x="10982325" y="6310312"/>
            <a:ext cx="24526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1" dirty="0">
                <a:solidFill>
                  <a:srgbClr val="0F172A"/>
                </a:solidFill>
                <a:latin typeface="Arial" panose="020B0604020202020204" pitchFamily="34" charset="0"/>
              </a:rPr>
              <a:t>6</a:t>
            </a:r>
            <a:r>
              <a:rPr sz="975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 / 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784B0C-360B-C8E5-01D1-F8322F82B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294" y="427158"/>
            <a:ext cx="8269411" cy="544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654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25191"/>
            <a:ext cx="3403550" cy="1883866"/>
          </a:xfrm>
          <a:prstGeom prst="roundRect">
            <a:avLst>
              <a:gd name="adj" fmla="val 6067"/>
            </a:avLst>
          </a:prstGeom>
          <a:solidFill>
            <a:srgbClr val="F8FAFC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725191"/>
            <a:ext cx="3403550" cy="1883866"/>
          </a:xfrm>
          <a:prstGeom prst="roundRect">
            <a:avLst>
              <a:gd name="adj" fmla="val 6067"/>
            </a:avLst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725191"/>
            <a:ext cx="3403550" cy="1883866"/>
          </a:xfrm>
          <a:prstGeom prst="roundRect">
            <a:avLst>
              <a:gd name="adj" fmla="val 6067"/>
            </a:avLst>
          </a:prstGeom>
          <a:solidFill>
            <a:srgbClr val="F8FAFC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57735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Arial" panose="020B0604020202020204" pitchFamily="34" charset="0"/>
              </a:rPr>
              <a:t>STRATEGIC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57250"/>
            <a:ext cx="6992299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Recommendations for 2026 Content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3029991"/>
            <a:ext cx="29654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0891B2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0850" y="3029991"/>
            <a:ext cx="29654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2563EB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3000" y="3029991"/>
            <a:ext cx="29654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67425"/>
            <a:ext cx="475290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Arial" panose="020B0604020202020204" pitchFamily="34" charset="0"/>
              </a:rPr>
              <a:t>Data-driven decisions confirm the value of scaling beyond on-track results.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3506241"/>
            <a:ext cx="174406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Scale Driver-Focus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3858666"/>
            <a:ext cx="29273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</a:rPr>
              <a:t>Allocate 60%+ of production budget to profiling high-retention drivers.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9900" y="3506241"/>
            <a:ext cx="126156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Grid Diversity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9900" y="3858666"/>
            <a:ext cx="29273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</a:rPr>
              <a:t>Move away from exclusive champion series; prioritize midfield rivalries.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2050" y="3506241"/>
            <a:ext cx="209672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365 Sponsor Packages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2050" y="3858666"/>
            <a:ext cx="29273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</a:rPr>
              <a:t>Monetize captive off-season audience at premium engagement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19437" y="4267200"/>
            <a:ext cx="5953125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774406" y="1905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6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19437" y="4267200"/>
            <a:ext cx="59531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56056" y="2628900"/>
            <a:ext cx="7079887" cy="5078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 dirty="0">
                <a:solidFill>
                  <a:srgbClr val="FFFFFF"/>
                </a:solidFill>
                <a:latin typeface="Arial" panose="020B0604020202020204" pitchFamily="34" charset="0"/>
              </a:rPr>
              <a:t>Unlocking Value Through Data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7875" y="3314700"/>
            <a:ext cx="8096250" cy="2650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Arial" panose="020B0604020202020204" pitchFamily="34" charset="0"/>
              </a:rPr>
              <a:t>Empirical insights translated into high-impact business decisions and measurable growth.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1531" y="1987592"/>
            <a:ext cx="704850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 dirty="0">
                <a:solidFill>
                  <a:srgbClr val="FFFFFF"/>
                </a:solidFill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7474" y="1952625"/>
            <a:ext cx="2389500" cy="3000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 dirty="0">
                <a:solidFill>
                  <a:srgbClr val="FFFFFF"/>
                </a:solidFill>
                <a:latin typeface="Arial" panose="020B0604020202020204" pitchFamily="34" charset="0"/>
              </a:rPr>
              <a:t>OPTIMA 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8106" y="4581525"/>
            <a:ext cx="96661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 dirty="0">
                <a:solidFill>
                  <a:srgbClr val="38BDF8"/>
                </a:solidFill>
                <a:latin typeface="Arial" panose="020B0604020202020204" pitchFamily="34" charset="0"/>
              </a:rPr>
              <a:t>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6428" y="4772025"/>
            <a:ext cx="104996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E2E8F0"/>
                </a:solidFill>
                <a:latin typeface="Arial" panose="020B0604020202020204" pitchFamily="34" charset="0"/>
              </a:rPr>
              <a:t>Optima 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97488" y="4581525"/>
            <a:ext cx="82554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 dirty="0">
                <a:solidFill>
                  <a:srgbClr val="38BDF8"/>
                </a:solidFill>
                <a:latin typeface="Arial" panose="020B0604020202020204" pitchFamily="34" charset="0"/>
              </a:rPr>
              <a:t>FOCUS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302" y="4772025"/>
            <a:ext cx="209191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E2E8F0"/>
                </a:solidFill>
                <a:latin typeface="Arial" panose="020B0604020202020204" pitchFamily="34" charset="0"/>
              </a:rPr>
              <a:t>Customer &amp; Content Decisioning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9515" y="4581525"/>
            <a:ext cx="57066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 dirty="0">
                <a:solidFill>
                  <a:srgbClr val="38BDF8"/>
                </a:solidFill>
                <a:latin typeface="Arial" panose="020B0604020202020204" pitchFamily="34" charset="0"/>
              </a:rPr>
              <a:t>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1588" y="4772025"/>
            <a:ext cx="134652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E2E8F0"/>
                </a:solidFill>
                <a:latin typeface="Arial" panose="020B0604020202020204" pitchFamily="34" charset="0"/>
              </a:rPr>
              <a:t>optimapartners.co.uk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151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 Black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Buharu vlad</cp:lastModifiedBy>
  <cp:revision>4</cp:revision>
  <dcterms:created xsi:type="dcterms:W3CDTF">2013-01-27T09:14:16Z</dcterms:created>
  <dcterms:modified xsi:type="dcterms:W3CDTF">2026-09-20T06:59:59Z</dcterms:modified>
  <cp:category/>
</cp:coreProperties>
</file>